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FF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零式协约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>
                <a:solidFill>
                  <a:srgbClr val="FFE8CC"/>
                </a:solidFill>
              </a:defRPr>
            </a:pPr>
            <a:r>
              <a:t>科创启蒙 · 项目启动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从零开始，用创意改变世界 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什么是「零式协约」？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2C2C2C"/>
                </a:solidFill>
              </a:defRPr>
            </a:pPr>
            <a:r>
              <a:t>「零式」从零开始，不预设前提。</a:t>
            </a:r>
          </a:p>
          <a:p>
            <a:pPr>
              <a:defRPr sz="2800" b="0">
                <a:solidFill>
                  <a:srgbClr val="2C2C2C"/>
                </a:solidFill>
              </a:defRPr>
            </a:pPr>
            <a:r>
              <a:t>「协约」是队员之间的约定与协作承诺。</a:t>
            </a:r>
          </a:p>
          <a:p>
            <a:pPr>
              <a:defRPr sz="1600" b="0">
                <a:solidFill>
                  <a:srgbClr val="2C2C2C"/>
                </a:solidFill>
              </a:defRPr>
            </a:pPr>
          </a:p>
          <a:p>
            <a:pPr>
              <a:defRPr sz="2400" b="1">
                <a:solidFill>
                  <a:srgbClr val="3A7CA5"/>
                </a:solidFill>
              </a:defRPr>
            </a:pPr>
            <a:r>
              <a:t>在这里，每个人都是真正的科创队员——</a:t>
            </a:r>
          </a:p>
          <a:p>
            <a:pPr>
              <a:defRPr sz="2400" b="0">
                <a:solidFill>
                  <a:srgbClr val="2C2C2C"/>
                </a:solidFill>
              </a:defRPr>
            </a:pPr>
            <a:r>
              <a:t>学习编程、了解AI、用视频表达想法,</a:t>
            </a:r>
          </a:p>
          <a:p>
            <a:pPr>
              <a:defRPr sz="2400" b="0">
                <a:solidFill>
                  <a:srgbClr val="2C2C2C"/>
                </a:solidFill>
              </a:defRPr>
            </a:pPr>
            <a:r>
              <a:t>最后完成一个可以展示的真实作品。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463040"/>
            <a:ext cx="54864" cy="3200400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🎯 真实项目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🤝 团队协作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657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2C2C"/>
                </a:solidFill>
              </a:defRPr>
            </a:pPr>
            <a:r>
              <a:t>💡 从零到一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我们的「天使投资」团队 👨‍👩‍👧‍👦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87D2F"/>
                </a:solidFill>
              </a:defRPr>
            </a:pPr>
            <a:r>
              <a:t>「天使投资」不是金钱，而是时间 · 信任 · 资源 · 陪伴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A7CA5"/>
                </a:solidFill>
              </a:defRPr>
            </a:pPr>
            <a:r>
              <a:t>学员家长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陪孩子开会、讨论方案、提供实际支持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A7CA5"/>
                </a:solidFill>
              </a:defRPr>
            </a:pPr>
            <a:r>
              <a:t>澄木老师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项目教练，带领团队走对路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480560"/>
            <a:ext cx="105156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3A7CA5"/>
                </a:solidFill>
              </a:defRPr>
            </a:pPr>
            <a:r>
              <a:t>伊达老师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项目教练，陪伴孩子成长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队员席位 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</a:defRPr>
            </a:pPr>
            <a:r>
              <a:t>初设 9 个席位 · 当前 6 位已就位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0116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刘清恒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0116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冯若夏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116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桐桐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20116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小羽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20116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4231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元宝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7889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840480"/>
            <a:ext cx="1280160" cy="1188720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251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李陈睦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✓ 已就位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39" y="3840480"/>
            <a:ext cx="1280160" cy="1188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39" y="4251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预留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39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</a:defRPr>
            </a:pPr>
            <a:r>
              <a:t>待定 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840480"/>
            <a:ext cx="1280160" cy="1188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251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预留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</a:defRPr>
            </a:pPr>
            <a:r>
              <a:t>待定 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23559" y="3840480"/>
            <a:ext cx="1280160" cy="11887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23559" y="425196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6B6B"/>
                </a:solidFill>
              </a:defRPr>
            </a:pPr>
            <a:r>
              <a:t>预留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3559" y="4617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6B6B"/>
                </a:solidFill>
              </a:defRPr>
            </a:pPr>
            <a:r>
              <a:t>待定 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7D2F"/>
                </a:solidFill>
              </a:defRPr>
            </a:pPr>
            <a:r>
              <a:t>不急着满员，找到合适的小朋友比凑人数更重要。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教练席位 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3A7CA5"/>
                </a:solidFill>
              </a:defRPr>
            </a:pPr>
            <a:r>
              <a:t>教练不是替队员做事的人，而是带着大家走对路的人。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28600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7CA5"/>
                </a:solidFill>
              </a:defRPr>
            </a:pPr>
            <a:r>
              <a:t>澄木老师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6B6B"/>
                </a:solidFill>
              </a:defRPr>
            </a:pPr>
            <a:r>
              <a:t>项目总教练 · 方向把控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2286000"/>
            <a:ext cx="4572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27432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A7CA5"/>
                </a:solidFill>
              </a:defRPr>
            </a:pPr>
            <a:r>
              <a:t>伊达老师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474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6B6B"/>
                </a:solidFill>
              </a:defRPr>
            </a:pPr>
            <a:r>
              <a:t>项目教练 · 陪伴成长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4572000" cy="1371600"/>
          </a:xfrm>
          <a:prstGeom prst="rect">
            <a:avLst/>
          </a:prstGeom>
          <a:solidFill>
            <a:srgbClr val="F0E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8B5E39"/>
                </a:solidFill>
              </a:defRPr>
            </a:pPr>
            <a:r>
              <a:t>预留教练席位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6B6B"/>
                </a:solidFill>
              </a:defRPr>
            </a:pPr>
            <a:r>
              <a:t>美术设计 / 编程开发 / 视频制作 / 课程内容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我们的第一个项目 🏎️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7D2F"/>
                </a:solidFill>
              </a:defRPr>
            </a:pPr>
            <a:r>
              <a:t>开发一个属于自己的赛车游戏！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1097280" cy="1097280"/>
          </a:xfrm>
          <a:prstGeom prst="ellipse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2C2C"/>
                </a:solidFill>
              </a:defRPr>
            </a:pPr>
            <a:r>
              <a:t>赛车能移动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键盘控制方向</a:t>
            </a:r>
          </a:p>
        </p:txBody>
      </p:sp>
      <p:sp>
        <p:nvSpPr>
          <p:cNvPr id="9" name="Oval 8"/>
          <p:cNvSpPr/>
          <p:nvPr/>
        </p:nvSpPr>
        <p:spPr>
          <a:xfrm>
            <a:off x="3474720" y="2286000"/>
            <a:ext cx="1097280" cy="1097280"/>
          </a:xfrm>
          <a:prstGeom prst="ellipse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2C2C"/>
                </a:solidFill>
              </a:defRPr>
            </a:pPr>
            <a:r>
              <a:t>有赛道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道路 + 边界线</a:t>
            </a:r>
          </a:p>
        </p:txBody>
      </p:sp>
      <p:sp>
        <p:nvSpPr>
          <p:cNvPr id="13" name="Oval 12"/>
          <p:cNvSpPr/>
          <p:nvPr/>
        </p:nvSpPr>
        <p:spPr>
          <a:xfrm>
            <a:off x="6035040" y="2286000"/>
            <a:ext cx="1097280" cy="1097280"/>
          </a:xfrm>
          <a:prstGeom prst="ellipse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79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2C2C"/>
                </a:solidFill>
              </a:defRPr>
            </a:pPr>
            <a:r>
              <a:t>起点 &amp; 终点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标记比赛区域</a:t>
            </a:r>
          </a:p>
        </p:txBody>
      </p:sp>
      <p:sp>
        <p:nvSpPr>
          <p:cNvPr id="17" name="Oval 16"/>
          <p:cNvSpPr/>
          <p:nvPr/>
        </p:nvSpPr>
        <p:spPr>
          <a:xfrm>
            <a:off x="8595359" y="2286000"/>
            <a:ext cx="1097280" cy="1097280"/>
          </a:xfrm>
          <a:prstGeom prst="ellipse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59" y="2377440"/>
            <a:ext cx="109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9" y="35661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C2C2C"/>
                </a:solidFill>
              </a:defRPr>
            </a:pPr>
            <a:r>
              <a:t>完成一场比赛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41148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6B6B"/>
                </a:solidFill>
              </a:defRPr>
            </a:pPr>
            <a:r>
              <a:t>计时 + 冲线反馈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A7CA5"/>
                </a:solidFill>
              </a:defRPr>
            </a:pPr>
            <a:r>
              <a:t>先做最小可玩版本，后续加入障碍物、排行榜、多关卡！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EA8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队员简介卡 🎯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1371600"/>
            <a:ext cx="75895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0" y="1645920"/>
            <a:ext cx="7040880" cy="7772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59"/>
                </a:solidFill>
              </a:defRPr>
            </a:pPr>
            <a:r>
              <a:t>▎我的超能力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01168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我最擅长的事是：__________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2743200"/>
            <a:ext cx="7040880" cy="7772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27614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59"/>
                </a:solidFill>
              </a:defRPr>
            </a:pPr>
            <a:r>
              <a:t>▎我的梦想项目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089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如果给我任何工具，我想做：__________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3840480"/>
            <a:ext cx="7040880" cy="7772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8587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59"/>
                </a:solidFill>
              </a:defRPr>
            </a:pPr>
            <a:r>
              <a:t>▎队友眼中的我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20624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"他/她最厉害的地方是..." (由队友填写)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4937759"/>
            <a:ext cx="7040880" cy="7772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956047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A859"/>
                </a:solidFill>
              </a:defRPr>
            </a:pPr>
            <a:r>
              <a:t>▎我的科创宣言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3035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6B"/>
                </a:solidFill>
              </a:defRPr>
            </a:pPr>
            <a:r>
              <a:t>用一句话告诉世界你要做什么！__________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137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EA859"/>
                </a:solidFill>
              </a:defRPr>
            </a:pPr>
            <a:r>
              <a:t>每位队员</a:t>
            </a:r>
            <a:br/>
            <a:r>
              <a:t>都会有一张</a:t>
            </a:r>
            <a:br/>
            <a:r>
              <a:t>自己的简介卡！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5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30秒视频脚本 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6B6B6B"/>
                </a:solidFill>
              </a:defRPr>
            </a:pPr>
            <a:r>
              <a:t>「我的科创宣言」短视频 · 分镜表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97280" cy="411480"/>
          </a:xfrm>
          <a:prstGeom prst="rect">
            <a:avLst/>
          </a:prstGeom>
          <a:solidFill>
            <a:srgbClr val="8B5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镜头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737360"/>
            <a:ext cx="1097280" cy="411480"/>
          </a:xfrm>
          <a:prstGeom prst="rect">
            <a:avLst/>
          </a:prstGeom>
          <a:solidFill>
            <a:srgbClr val="8B5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783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737360"/>
            <a:ext cx="3200400" cy="411480"/>
          </a:xfrm>
          <a:prstGeom prst="rect">
            <a:avLst/>
          </a:prstGeom>
          <a:solidFill>
            <a:srgbClr val="8B5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783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画面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737360"/>
            <a:ext cx="5029200" cy="411480"/>
          </a:xfrm>
          <a:prstGeom prst="rect">
            <a:avLst/>
          </a:prstGeom>
          <a:solidFill>
            <a:srgbClr val="8B5E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台词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1488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286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2C2C"/>
                </a:solidFill>
              </a:defRPr>
            </a:pPr>
            <a:r>
              <a:t>开场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1488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286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0-5s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48840"/>
            <a:ext cx="32004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2860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微笑面对镜头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48840"/>
            <a:ext cx="50292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2860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"大家好，我是___！"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834640"/>
            <a:ext cx="1097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2C2C"/>
                </a:solidFill>
              </a:defRPr>
            </a:pPr>
            <a:r>
              <a:t>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2834640"/>
            <a:ext cx="1097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20240" y="2971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5-12s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2834640"/>
            <a:ext cx="320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0" y="29718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手举物品/指向某处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8346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29718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"我发现一个问题..."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5204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657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2C2C"/>
                </a:solidFill>
              </a:defRPr>
            </a:pPr>
            <a:r>
              <a:t>行动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35204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20240" y="3657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12-20s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80" y="3520440"/>
            <a:ext cx="32004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36576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快速做一件事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3520440"/>
            <a:ext cx="50292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36576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"所以我想用___解决它！"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206240"/>
            <a:ext cx="1097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343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2C2C"/>
                </a:solidFill>
              </a:defRPr>
            </a:pPr>
            <a:r>
              <a:t>宣言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828800" y="4206240"/>
            <a:ext cx="10972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20240" y="4343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20-27s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26080" y="4206240"/>
            <a:ext cx="32004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43434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表情坚定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20624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3434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"因为我觉得：______！"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48920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029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C2C2C"/>
                </a:solidFill>
              </a:defRPr>
            </a:pPr>
            <a:r>
              <a:t>结尾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0" y="4892040"/>
            <a:ext cx="109728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20240" y="5029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27-30s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26080" y="4892040"/>
            <a:ext cx="32004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0" y="5029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团队手势/造型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4892040"/>
            <a:ext cx="5029200" cy="68580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17920" y="5029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2C2C"/>
                </a:solidFill>
              </a:defRPr>
            </a:pPr>
            <a:r>
              <a:t>"一起加油！"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7D2F"/>
                </a:solidFill>
              </a:defRPr>
            </a:pPr>
            <a:r>
              <a:t>像对最好的朋友说话一样，说错了就重来！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今天我们要做什么？📋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7373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</a:defRPr>
            </a:pPr>
            <a:r>
              <a:t>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91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</a:defRPr>
            </a:pPr>
            <a:r>
              <a:t>第1步：破冰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83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谁是队员？你的超能力是什么？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51460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2606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</a:defRPr>
            </a:pPr>
            <a:r>
              <a:t>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560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</a:defRPr>
            </a:pPr>
            <a:r>
              <a:t>第2步：了解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什么是科技创新？3个生活例子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38328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</a:defRPr>
            </a:pPr>
            <a: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</a:defRPr>
            </a:pPr>
            <a:r>
              <a:t>第3步：填写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20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制作你的队员简介卡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51959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54480" y="434339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</a:defRPr>
            </a:pPr>
            <a:r>
              <a:t>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297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</a:defRPr>
            </a:pPr>
            <a:r>
              <a:t>第4步：创作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3891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小组写30秒视频脚本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5120640"/>
            <a:ext cx="9144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5212079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2C2C"/>
                </a:solidFill>
              </a:defRPr>
            </a:pPr>
            <a:r>
              <a:t>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51663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A7CA5"/>
                </a:solidFill>
              </a:defRPr>
            </a:pPr>
            <a:r>
              <a:t>第5步：展示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257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2C2C"/>
                </a:solidFill>
              </a:defRPr>
            </a:pPr>
            <a:r>
              <a:t>自愿分享 + 课堂记录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7C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真实的想法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CCDDEE"/>
                </a:solidFill>
              </a:defRPr>
            </a:pPr>
            <a:r>
              <a:t>比完美的表演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E0B2"/>
                </a:solidFill>
              </a:defRPr>
            </a:pPr>
            <a:r>
              <a:t>有价值一万倍。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84632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BBCCDD"/>
                </a:solidFill>
              </a:defRPr>
            </a:pPr>
            <a:r>
              <a:t>—— 零式协约队员信条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C2C2C"/>
                </a:solidFill>
              </a:defRPr>
            </a:pPr>
            <a:r>
              <a:t>我们的四个约定 🤝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4846320" cy="14630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C2C"/>
                </a:solidFill>
              </a:defRPr>
            </a:pPr>
            <a:r>
              <a:t>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7D2F"/>
                </a:solidFill>
              </a:defRPr>
            </a:pPr>
            <a:r>
              <a:t>孩子为主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队员是项目的主角，大人是辅助。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45920"/>
            <a:ext cx="4846320" cy="14630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C2C"/>
                </a:solidFill>
              </a:defRPr>
            </a:pPr>
            <a:r>
              <a:t>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783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7D2F"/>
                </a:solidFill>
              </a:defRPr>
            </a:pPr>
            <a:r>
              <a:t>逐步成长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不追求一步到位，边做边调整。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474720"/>
            <a:ext cx="4846320" cy="14630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6118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C2C"/>
                </a:solidFill>
              </a:defRPr>
            </a:pPr>
            <a:r>
              <a:t>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611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7D2F"/>
                </a:solidFill>
              </a:defRPr>
            </a:pPr>
            <a:r>
              <a:t>开放透明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每个人都能看懂团队是怎么运转的。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474720"/>
            <a:ext cx="4846320" cy="1463040"/>
          </a:xfrm>
          <a:prstGeom prst="rect">
            <a:avLst/>
          </a:prstGeom>
          <a:solidFill>
            <a:srgbClr val="F7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61187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2C2C"/>
                </a:solidFill>
              </a:defRPr>
            </a:pPr>
            <a:r>
              <a:t>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6118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E87D2F"/>
                </a:solidFill>
              </a:defRPr>
            </a:pPr>
            <a:r>
              <a:t>尊重节奏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14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6B6B"/>
                </a:solidFill>
              </a:defRPr>
            </a:pPr>
            <a:r>
              <a:t>按自己的速度和状态来，不赶不催。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7D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零式协约 V0.1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FFE8CC"/>
                </a:solidFill>
              </a:defRPr>
            </a:pPr>
            <a:r>
              <a:t>项目启动 · 今天开始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带着你的简介卡，我们下节课见！</a:t>
            </a:r>
            <a:br/>
            <a:r>
              <a:t>赛车游戏开发 · 从零开始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B6B6B"/>
                </a:solidFill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