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GESP C4 考级辅导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BBDDEE"/>
                </a:solidFill>
              </a:defRPr>
            </a:pPr>
            <a:r>
              <a:t>抓重点 · 稳备考 · 拿高分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212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9BBCC"/>
                </a:solidFill>
              </a:defRPr>
            </a:pPr>
            <a:r>
              <a:t>未来创客 · 45分钟高效课堂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B6B6B"/>
                </a:solidFill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2C2C2C"/>
                </a:solidFill>
              </a:defRPr>
            </a:pPr>
            <a:r>
              <a:t>今天课堂流程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463040"/>
            <a:ext cx="7772400" cy="713232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68880" y="14813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6B6B"/>
                </a:solidFill>
              </a:defRPr>
            </a:pPr>
            <a:r>
              <a:t>0-5min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508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AB"/>
                </a:solidFill>
              </a:defRPr>
            </a:pPr>
            <a:r>
              <a:t>开场热身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600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2C2C"/>
                </a:solidFill>
              </a:defRPr>
            </a:pPr>
            <a:r>
              <a:t>回顾上期考点，明确目标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2377440"/>
            <a:ext cx="7772400" cy="713232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23957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6B6B"/>
                </a:solidFill>
              </a:defRPr>
            </a:pPr>
            <a:r>
              <a:t>5-15min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423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AB"/>
                </a:solidFill>
              </a:defRPr>
            </a:pPr>
            <a:r>
              <a:t>重点题型一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514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2C2C"/>
                </a:solidFill>
              </a:defRPr>
            </a:pPr>
            <a:r>
              <a:t>程序阅读理解训练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3291840"/>
            <a:ext cx="7772400" cy="713232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33101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6B6B"/>
                </a:solidFill>
              </a:defRPr>
            </a:pPr>
            <a:r>
              <a:t>15-30min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337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7E22"/>
                </a:solidFill>
              </a:defRPr>
            </a:pPr>
            <a:r>
              <a:t>⭐ 核心环节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429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2C2C"/>
                </a:solidFill>
              </a:defRPr>
            </a:pPr>
            <a:r>
              <a:t>典型题逐行讲透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4206240"/>
            <a:ext cx="7772400" cy="713232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4224527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6B6B"/>
                </a:solidFill>
              </a:defRPr>
            </a:pPr>
            <a:r>
              <a:t>30-40min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25195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392B"/>
                </a:solidFill>
              </a:defRPr>
            </a:pPr>
            <a:r>
              <a:t>高频易错点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343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2C2C"/>
                </a:solidFill>
              </a:defRPr>
            </a:pPr>
            <a:r>
              <a:t>过清单 + 小题验证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5120640"/>
            <a:ext cx="7772400" cy="713232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0" y="5138927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6B6B"/>
                </a:solidFill>
              </a:defRPr>
            </a:pPr>
            <a:r>
              <a:t>40-45min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516635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</a:defRPr>
            </a:pPr>
            <a:r>
              <a:t>小结 &amp; 布置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257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2C2C"/>
                </a:solidFill>
              </a:defRPr>
            </a:pPr>
            <a:r>
              <a:t>总结 + 课后练习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B6B6B"/>
                </a:solidFill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2C2C2C"/>
                </a:solidFill>
              </a:defRPr>
            </a:pPr>
            <a:r>
              <a:t>C4 考级重点在哪里？🎯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8463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E86AB"/>
                </a:solidFill>
              </a:defRPr>
            </a:pPr>
            <a:r>
              <a:t>~30%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40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2C2C"/>
                </a:solidFill>
              </a:defRPr>
            </a:pPr>
            <a:r>
              <a:t>程序阅读理解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6B6B"/>
                </a:solidFill>
              </a:defRPr>
            </a:pPr>
            <a:r>
              <a:t>读懂代码，写出运行结果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48463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E86AB"/>
                </a:solidFill>
              </a:defRPr>
            </a:pPr>
            <a:r>
              <a:t>~25%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40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2C2C"/>
                </a:solidFill>
              </a:defRPr>
            </a:pPr>
            <a:r>
              <a:t>基础语法掌握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51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6B6B"/>
                </a:solidFill>
              </a:defRPr>
            </a:pPr>
            <a:r>
              <a:t>循环、判断、函数调用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474720"/>
            <a:ext cx="48463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61187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E86AB"/>
                </a:solidFill>
              </a:defRPr>
            </a:pPr>
            <a:r>
              <a:t>~25%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069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2C2C"/>
                </a:solidFill>
              </a:defRPr>
            </a:pPr>
            <a:r>
              <a:t>逻辑思维能力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80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6B6B"/>
                </a:solidFill>
              </a:defRPr>
            </a:pPr>
            <a:r>
              <a:t>变量追踪、条件分支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474720"/>
            <a:ext cx="48463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61187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E86AB"/>
                </a:solidFill>
              </a:defRPr>
            </a:pPr>
            <a:r>
              <a:t>~20%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069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2C2C"/>
                </a:solidFill>
              </a:defRPr>
            </a:pPr>
            <a:r>
              <a:t>改错与填空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480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6B6B"/>
                </a:solidFill>
              </a:defRPr>
            </a:pPr>
            <a:r>
              <a:t>找bug、补全代码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7E22"/>
                </a:solidFill>
              </a:defRPr>
            </a:pPr>
            <a:r>
              <a:t>⭐ 今天重点攻克：程序阅读理解 — 占比最大，也是最容易提分的类型！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B6B6B"/>
                </a:solidFill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2C2C2C"/>
                </a:solidFill>
              </a:defRPr>
            </a:pPr>
            <a:r>
              <a:t>阅读题三步走解法 🧠</a:t>
            </a:r>
          </a:p>
        </p:txBody>
      </p:sp>
      <p:sp>
        <p:nvSpPr>
          <p:cNvPr id="4" name="Oval 3"/>
          <p:cNvSpPr/>
          <p:nvPr/>
        </p:nvSpPr>
        <p:spPr>
          <a:xfrm>
            <a:off x="1097280" y="1828800"/>
            <a:ext cx="914400" cy="9144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0574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920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86AB"/>
                </a:solidFill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691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2C2C"/>
                </a:solidFill>
              </a:defRPr>
            </a:pPr>
            <a:r>
              <a:t>画变量跟踪表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103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6B6B"/>
                </a:solidFill>
              </a:defRPr>
            </a:pPr>
            <a:r>
              <a:t>横轴=轮次，纵轴=变量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423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6B6B"/>
                </a:solidFill>
              </a:defRPr>
            </a:pPr>
            <a:r>
              <a:t>每步都记录数值变化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3291840"/>
            <a:ext cx="914400" cy="9144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5204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383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67E22"/>
                </a:solidFill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154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2C2C"/>
                </a:solidFill>
              </a:defRPr>
            </a:pPr>
            <a:r>
              <a:t>逐行执行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566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6B6B"/>
                </a:solidFill>
              </a:defRPr>
            </a:pPr>
            <a:r>
              <a:t>不跳步骤、不脑算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886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6B6B"/>
                </a:solidFill>
              </a:defRPr>
            </a:pPr>
            <a:r>
              <a:t>一行一行对照代码走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4754880"/>
            <a:ext cx="914400" cy="9144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9834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846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0392B"/>
                </a:solidFill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617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2C2C"/>
                </a:solidFill>
              </a:defRPr>
            </a:pPr>
            <a:r>
              <a:t>注意 break/return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5029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6B6B"/>
                </a:solidFill>
              </a:defRPr>
            </a:pPr>
            <a:r>
              <a:t>找到提前退出的条件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5349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6B6B"/>
                </a:solidFill>
              </a:defRPr>
            </a:pPr>
            <a:r>
              <a:t>这是最容易丢分的地方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B6B6B"/>
                </a:solidFill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2C2C2C"/>
                </a:solidFill>
              </a:defRPr>
            </a:pPr>
            <a:r>
              <a:t>⭐ 典型题 · 逐行分析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463040"/>
            <a:ext cx="6858000" cy="3474720"/>
          </a:xfrm>
          <a:prstGeom prst="roundRect">
            <a:avLst/>
          </a:prstGeom>
          <a:solidFill>
            <a:srgbClr val="2D2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79C6"/>
                </a:solidFill>
              </a:defRPr>
            </a:pPr>
            <a:r>
              <a:t>def mystery(n):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1488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    a = 1          # 初始值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4688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    b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788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4BECE"/>
                </a:solidFill>
              </a:defRPr>
            </a:pPr>
            <a:r>
              <a:t>    while a &lt;= 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1089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792EA"/>
                </a:solidFill>
              </a:defRPr>
            </a:pPr>
            <a:r>
              <a:t>        b += a      # 累加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4290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5555"/>
                </a:solidFill>
              </a:defRPr>
            </a:pPr>
            <a:r>
              <a:t>        if b &gt;= 10: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7490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5555"/>
                </a:solidFill>
              </a:defRPr>
            </a:pPr>
            <a:r>
              <a:t>            break   # ≥10就停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0690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792EA"/>
                </a:solidFill>
              </a:defRPr>
            </a:pPr>
            <a:r>
              <a:t>        a *= 2      # 翻倍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3891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0FA7B"/>
                </a:solidFill>
              </a:defRPr>
            </a:pPr>
            <a:r>
              <a:t>    return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709159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645920" y="5029199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E66D"/>
                </a:solidFill>
              </a:defRPr>
            </a:pPr>
            <a:r>
              <a:t>print(mystery(3))   # 结果？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2011680"/>
            <a:ext cx="2743200" cy="25603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2194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67E22"/>
                </a:solidFill>
              </a:defRPr>
            </a:pPr>
            <a:r>
              <a:t>思考时间！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7432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C2C2C"/>
                </a:solidFill>
              </a:defRPr>
            </a:pPr>
            <a:r>
              <a:t>mystery(3)</a:t>
            </a:r>
            <a:br/>
            <a:r>
              <a:t>的答案是？</a:t>
            </a:r>
            <a:br/>
            <a:br/>
            <a:r>
              <a:t>💡 先画表再算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AB"/>
                </a:solidFill>
              </a:defRPr>
            </a:pPr>
            <a:r>
              <a:t>别急着看答案！先在纸上画执行表 ☝️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B6B6B"/>
                </a:solidFill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2C2C2C"/>
                </a:solidFill>
              </a:defRPr>
            </a:pPr>
            <a:r>
              <a:t>执行表详解 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82296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3619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轮次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4480" y="1463040"/>
            <a:ext cx="100584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15361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 (入值)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463040"/>
            <a:ext cx="100584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15361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 (入值)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463040"/>
            <a:ext cx="91440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53619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a≤3?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463040"/>
            <a:ext cx="109728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536192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b+=a后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1463040"/>
            <a:ext cx="91440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60" y="153619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b≥10?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1463040"/>
            <a:ext cx="100584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5361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a*=2后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011680"/>
            <a:ext cx="822960" cy="502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1031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C2C2C"/>
                </a:solidFill>
              </a:defRPr>
            </a:pPr>
            <a:r>
              <a:t>第1轮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2011680"/>
            <a:ext cx="1005840" cy="502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00200" y="21031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C2C2C"/>
                </a:solidFill>
              </a:defRPr>
            </a:pPr>
            <a: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0" y="2011680"/>
            <a:ext cx="1005840" cy="502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06040" y="21031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C2C2C"/>
                </a:solidFill>
              </a:defRPr>
            </a:pPr>
            <a: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6160" y="2011680"/>
            <a:ext cx="914400" cy="502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11880" y="21031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7AE60"/>
                </a:solidFill>
              </a:defRPr>
            </a:pPr>
            <a:r>
              <a:t>✓ 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2011680"/>
            <a:ext cx="1097280" cy="502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2103120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C2C2C"/>
                </a:solidFill>
              </a:defRPr>
            </a:pPr>
            <a: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77840" y="2011680"/>
            <a:ext cx="914400" cy="502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23560" y="21031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0392B"/>
                </a:solidFill>
              </a:defRPr>
            </a:pPr>
            <a:r>
              <a:t>✗ 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2011680"/>
            <a:ext cx="1005840" cy="502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21031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C2C2C"/>
                </a:solidFill>
              </a:defRPr>
            </a:pPr>
            <a: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2651760"/>
            <a:ext cx="822960" cy="502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27432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C2C2C"/>
                </a:solidFill>
              </a:defRPr>
            </a:pPr>
            <a:r>
              <a:t>第2轮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54480" y="2651760"/>
            <a:ext cx="1005840" cy="502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00200" y="27432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C2C2C"/>
                </a:solidFill>
              </a:defRPr>
            </a:pPr>
            <a: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0" y="2651760"/>
            <a:ext cx="1005840" cy="502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06040" y="27432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C2C2C"/>
                </a:solidFill>
              </a:defRPr>
            </a:pPr>
            <a: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66160" y="2651760"/>
            <a:ext cx="914400" cy="502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11880" y="27432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7AE60"/>
                </a:solidFill>
              </a:defRPr>
            </a:pPr>
            <a:r>
              <a:t>✓ 是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80560" y="2651760"/>
            <a:ext cx="1097280" cy="502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26280" y="2743200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C2C2C"/>
                </a:solidFill>
              </a:defRPr>
            </a:pPr>
            <a:r>
              <a:t>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77840" y="2651760"/>
            <a:ext cx="914400" cy="502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23560" y="27432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0392B"/>
                </a:solidFill>
              </a:defRPr>
            </a:pPr>
            <a:r>
              <a:t>✗ 否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92240" y="2651760"/>
            <a:ext cx="1005840" cy="502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27432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C2C2C"/>
                </a:solidFill>
              </a:defRPr>
            </a:pPr>
            <a:r>
              <a:t>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3291840"/>
            <a:ext cx="822960" cy="502920"/>
          </a:xfrm>
          <a:prstGeom prst="rect">
            <a:avLst/>
          </a:prstGeom>
          <a:solidFill>
            <a:srgbClr val="FFE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33832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C2C2C"/>
                </a:solidFill>
              </a:defRPr>
            </a:pPr>
            <a:r>
              <a:t>第3轮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554480" y="3291840"/>
            <a:ext cx="1005840" cy="502920"/>
          </a:xfrm>
          <a:prstGeom prst="rect">
            <a:avLst/>
          </a:prstGeom>
          <a:solidFill>
            <a:srgbClr val="FFE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600200" y="33832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C2C2C"/>
                </a:solidFill>
              </a:defRPr>
            </a:pPr>
            <a:r>
              <a:t>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560320" y="3291840"/>
            <a:ext cx="1005840" cy="502920"/>
          </a:xfrm>
          <a:prstGeom prst="rect">
            <a:avLst/>
          </a:prstGeom>
          <a:solidFill>
            <a:srgbClr val="FFE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606040" y="33832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C2C2C"/>
                </a:solidFill>
              </a:defRPr>
            </a:pPr>
            <a:r>
              <a:t>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66160" y="3291840"/>
            <a:ext cx="914400" cy="502920"/>
          </a:xfrm>
          <a:prstGeom prst="rect">
            <a:avLst/>
          </a:prstGeom>
          <a:solidFill>
            <a:srgbClr val="FFE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11880" y="33832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392B"/>
                </a:solidFill>
              </a:defRPr>
            </a:pPr>
            <a:r>
              <a:t>✗ 否(停)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480560" y="3291840"/>
            <a:ext cx="1097280" cy="502920"/>
          </a:xfrm>
          <a:prstGeom prst="rect">
            <a:avLst/>
          </a:prstGeom>
          <a:solidFill>
            <a:srgbClr val="FFE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26280" y="3383280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C2C2C"/>
                </a:solidFill>
              </a:defRPr>
            </a:pPr>
            <a:r>
              <a:t>-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577840" y="3291840"/>
            <a:ext cx="914400" cy="502920"/>
          </a:xfrm>
          <a:prstGeom prst="rect">
            <a:avLst/>
          </a:prstGeom>
          <a:solidFill>
            <a:srgbClr val="FFE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23560" y="33832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C2C2C"/>
                </a:solidFill>
              </a:defRPr>
            </a:pPr>
            <a:r>
              <a:t>-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92240" y="3291840"/>
            <a:ext cx="1005840" cy="502920"/>
          </a:xfrm>
          <a:prstGeom prst="rect">
            <a:avLst/>
          </a:prstGeom>
          <a:solidFill>
            <a:srgbClr val="FFE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7960" y="33832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C2C2C"/>
                </a:solidFill>
              </a:defRPr>
            </a:pPr>
            <a:r>
              <a:t>-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31520" y="4297680"/>
            <a:ext cx="6766560" cy="6400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4400" y="448055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7AE60"/>
                </a:solidFill>
              </a:defRPr>
            </a:pPr>
            <a:r>
              <a:t>✅ 循环结束，返回 b = 3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229600" y="1828800"/>
            <a:ext cx="3474720" cy="22860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12480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AB"/>
                </a:solidFill>
              </a:defRPr>
            </a:pPr>
            <a:r>
              <a:t>🔑 关键提问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12480" y="2560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</a:defRPr>
            </a:pPr>
            <a:r>
              <a:t>"a*=2"每轮都执行吗？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12480" y="2852927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AB"/>
                </a:solidFill>
              </a:defRPr>
            </a:pPr>
            <a:r>
              <a:t>→ break会提前退出！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12480" y="3145535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8412480" y="3438143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</a:defRPr>
            </a:pPr>
            <a:r>
              <a:t>"如果n=10结果是多少？"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12480" y="3730751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AB"/>
                </a:solidFill>
              </a:defRPr>
            </a:pPr>
            <a:r>
              <a:t>→ 自己算一遍 (答案:7)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68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B6B6B"/>
                </a:solidFill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C0392B"/>
                </a:solidFill>
              </a:defRPr>
            </a:pPr>
            <a:r>
              <a:t>高频易错点清单 ⚠️</a:t>
            </a:r>
          </a:p>
        </p:txBody>
      </p:sp>
      <p:sp>
        <p:nvSpPr>
          <p:cNvPr id="4" name="Oval 3"/>
          <p:cNvSpPr/>
          <p:nvPr/>
        </p:nvSpPr>
        <p:spPr>
          <a:xfrm>
            <a:off x="1097280" y="1600200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190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1463040"/>
            <a:ext cx="914400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0" y="1508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2C2C"/>
                </a:solidFill>
              </a:defRPr>
            </a:pPr>
            <a:r>
              <a:t>运算符优先级混淆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8470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392B"/>
                </a:solidFill>
              </a:defRPr>
            </a:pPr>
            <a:r>
              <a:t>`a and b or c` vs `(a and b) or c`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783080"/>
            <a:ext cx="3474720" cy="4572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8470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</a:defRPr>
            </a:pPr>
            <a:r>
              <a:t>✅ 先加括号再读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2834640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95351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3120" y="2697480"/>
            <a:ext cx="914400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7440" y="2743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2C2C"/>
                </a:solidFill>
              </a:defRPr>
            </a:pPr>
            <a:r>
              <a:t>while/for 边界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081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392B"/>
                </a:solidFill>
              </a:defRPr>
            </a:pPr>
            <a:r>
              <a:t>off-by-one，漏算最后一轮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3017520"/>
            <a:ext cx="3474720" cy="4572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308152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</a:defRPr>
            </a:pPr>
            <a:r>
              <a:t>✅ 强制画执行表</a:t>
            </a:r>
          </a:p>
        </p:txBody>
      </p:sp>
      <p:sp>
        <p:nvSpPr>
          <p:cNvPr id="18" name="Oval 17"/>
          <p:cNvSpPr/>
          <p:nvPr/>
        </p:nvSpPr>
        <p:spPr>
          <a:xfrm>
            <a:off x="1097280" y="4069080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18795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03120" y="3931920"/>
            <a:ext cx="914400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77440" y="3977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2C2C"/>
                </a:solidFill>
              </a:defRPr>
            </a:pPr>
            <a:r>
              <a:t>if-elif-else 逻辑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43159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392B"/>
                </a:solidFill>
              </a:defRPr>
            </a:pPr>
            <a:r>
              <a:t>只进第一个满足条件的分支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4251960"/>
            <a:ext cx="3474720" cy="4572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79" y="43159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</a:defRPr>
            </a:pPr>
            <a:r>
              <a:t>✅ 牢记'选一路'原则</a:t>
            </a:r>
          </a:p>
        </p:txBody>
      </p:sp>
      <p:sp>
        <p:nvSpPr>
          <p:cNvPr id="25" name="Oval 24"/>
          <p:cNvSpPr/>
          <p:nvPr/>
        </p:nvSpPr>
        <p:spPr>
          <a:xfrm>
            <a:off x="1097280" y="5303520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54223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03120" y="5166360"/>
            <a:ext cx="914400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77440" y="5212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2C2C"/>
                </a:solidFill>
              </a:defRPr>
            </a:pPr>
            <a:r>
              <a:t>函数返回值遗漏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55504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392B"/>
                </a:solidFill>
              </a:defRPr>
            </a:pPr>
            <a:r>
              <a:t>写了print没写return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5486400"/>
            <a:ext cx="3474720" cy="4572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79" y="555040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</a:defRPr>
            </a:pPr>
            <a:r>
              <a:t>✅ 读完找return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7E22"/>
                </a:solidFill>
              </a:defRPr>
            </a:pPr>
            <a:r>
              <a:t>💡 考场秘诀：每道阅读题强制画执行表，宁可多花30秒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B6B6B"/>
                </a:solidFill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2C2C2C"/>
                </a:solidFill>
              </a:defRPr>
            </a:pPr>
            <a:r>
              <a:t>变式训练 · 思路不变 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B6B6B"/>
                </a:solidFill>
              </a:defRPr>
            </a:pPr>
            <a:r>
              <a:t>改一个数字，看看你能不能独立完成！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011680"/>
            <a:ext cx="5486400" cy="2286000"/>
          </a:xfrm>
          <a:prstGeom prst="roundRect">
            <a:avLst/>
          </a:prstGeom>
          <a:solidFill>
            <a:srgbClr val="2D2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1945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79C6"/>
                </a:solidFill>
              </a:defRPr>
            </a:pPr>
            <a:r>
              <a:t>def change(n):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48716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    a =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779775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    b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072383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4BECE"/>
                </a:solidFill>
              </a:defRPr>
            </a:pPr>
            <a:r>
              <a:t>    while a &lt;= 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364991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792EA"/>
                </a:solidFill>
              </a:defRPr>
            </a:pPr>
            <a:r>
              <a:t>        b +=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657599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5555"/>
                </a:solidFill>
              </a:defRPr>
            </a:pPr>
            <a:r>
              <a:t>        if b &gt;= 10: break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950207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E66D"/>
                </a:solidFill>
              </a:defRPr>
            </a:pPr>
            <a:r>
              <a:t>        a += 1   # 改成了+1!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24281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50FA7B"/>
                </a:solidFill>
              </a:defRPr>
            </a:pPr>
            <a:r>
              <a:t>    return 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011680"/>
            <a:ext cx="4114800" cy="2286000"/>
          </a:xfrm>
          <a:prstGeom prst="round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2377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67E22"/>
                </a:solidFill>
              </a:defRPr>
            </a:pPr>
            <a:r>
              <a:t>change(5) =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9260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C2C2C"/>
                </a:solidFill>
              </a:defRPr>
            </a:pPr>
            <a:r>
              <a:t>a += 1 代替了 a *= 2</a:t>
            </a:r>
            <a:br/>
            <a:r>
              <a:t>这次结果会是多少？</a:t>
            </a:r>
            <a:br/>
            <a:r>
              <a:t>画表试试！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54880"/>
            <a:ext cx="4572000" cy="10972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9377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</a:defRPr>
            </a:pPr>
            <a:r>
              <a:t>答案揭晓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035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2C2C"/>
                </a:solidFill>
              </a:defRPr>
            </a:pPr>
            <a:r>
              <a:t>b = 0+1+2+3 = 6  (第4轮 b=10, break)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AB"/>
                </a:solidFill>
              </a:defRPr>
            </a:pPr>
            <a:r>
              <a:t>看到思路了吗？画表 → 逐行 → 找break，三步搞定！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B6B6B"/>
                </a:solidFill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2C2C2C"/>
                </a:solidFill>
              </a:defRPr>
            </a:pPr>
            <a:r>
              <a:t>课后练习 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</a:defRPr>
            </a:pPr>
            <a:r>
              <a:t>必做 (2题)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2C2C"/>
                </a:solidFill>
              </a:defRPr>
            </a:pPr>
            <a:r>
              <a:t>📌 模拟执行题 ×1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</a:defRPr>
            </a:pPr>
            <a:r>
              <a:t>给定含 while + if + break</a:t>
            </a:r>
            <a:br/>
            <a:r>
              <a:t>的代码，手写执行结果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2C2C"/>
                </a:solidFill>
              </a:defRPr>
            </a:pPr>
            <a:r>
              <a:t>📌 函数调用链题 ×1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490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</a:defRPr>
            </a:pPr>
            <a:r>
              <a:t>两个函数互相调用</a:t>
            </a:r>
            <a:br/>
            <a:r>
              <a:t>追踪最终返回值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63040"/>
            <a:ext cx="530352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7E22"/>
                </a:solidFill>
              </a:defRPr>
            </a:pPr>
            <a:r>
              <a:t>选做 (根据水平)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2C2C"/>
                </a:solidFill>
              </a:defRPr>
            </a:pPr>
            <a:r>
              <a:t>✏️ 改错题 ×1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560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</a:defRPr>
            </a:pPr>
            <a:r>
              <a:t>有bug的程序 + 预期输出</a:t>
            </a:r>
            <a:br/>
            <a:r>
              <a:t>找出错误并修正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383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2C2C"/>
                </a:solidFill>
              </a:defRPr>
            </a:pPr>
            <a:r>
              <a:t>✏️ 填空题 ×1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7490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</a:defRPr>
            </a:pPr>
            <a:r>
              <a:t>补全程序使输出符合</a:t>
            </a:r>
            <a:br/>
            <a:r>
              <a:t>给定结果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9200"/>
            <a:ext cx="10972800" cy="10972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212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AB"/>
                </a:solidFill>
              </a:defRPr>
            </a:pPr>
            <a:r>
              <a:t>复习建议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77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C2C2C"/>
                </a:solidFill>
              </a:defRPr>
            </a:pPr>
            <a:r>
              <a:t>📚 重点刷 GESP C4 往期真题中的「阅读程序写结果」类型（占比约30%）</a:t>
            </a:r>
          </a:p>
          <a:p>
            <a:pPr>
              <a:defRPr sz="1700" b="0">
                <a:solidFill>
                  <a:srgbClr val="2C2C2C"/>
                </a:solidFill>
              </a:defRPr>
            </a:pPr>
            <a:r>
              <a:t>✍️ 每天至少手写2道执行表，形成肌肉记忆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B6B6B"/>
                </a:solidFill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记住三步走！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0" y="2926080"/>
            <a:ext cx="5760720" cy="640080"/>
          </a:xfrm>
          <a:prstGeom prst="round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383280" y="294436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画变量跟踪表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329184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AACC"/>
                </a:solidFill>
              </a:defRPr>
            </a:pPr>
            <a:r>
              <a:t>横轴=轮次，纵轴=变量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3749040"/>
            <a:ext cx="5760720" cy="640080"/>
          </a:xfrm>
          <a:prstGeom prst="round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376732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逐行执行不跳步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411480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AACC"/>
                </a:solidFill>
              </a:defRPr>
            </a:pPr>
            <a:r>
              <a:t>对照代码一行一行走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4572000"/>
            <a:ext cx="5760720" cy="640080"/>
          </a:xfrm>
          <a:prstGeom prst="round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459028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注意 break/return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493776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AACC"/>
                </a:solidFill>
              </a:defRPr>
            </a:pPr>
            <a:r>
              <a:t>找到提前退出的条件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5760720"/>
            <a:ext cx="39319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E66D"/>
                </a:solidFill>
              </a:defRPr>
            </a:pPr>
            <a:r>
              <a:t>每道阅读题都画表，宁可多花30秒！💪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B6B6B"/>
                </a:solidFill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